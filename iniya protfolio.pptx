
<file path=[Content_Types].xml><?xml version="1.0" encoding="utf-8"?>
<Types xmlns="http://schemas.openxmlformats.org/package/2006/content-types">
  <Default ContentType="image/jp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12192000" cy="6858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86612-B127-4CD0-BF15-66D49A7175F7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439ED-1E90-4106-847A-8EF19031FE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55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439ED-1E90-4106-847A-8EF19031FE2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53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95574" y="2067305"/>
            <a:ext cx="5800851" cy="518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7426" y="4825"/>
            <a:ext cx="1218565" cy="6853555"/>
          </a:xfrm>
          <a:custGeom>
            <a:avLst/>
            <a:gdLst/>
            <a:ahLst/>
            <a:cxnLst/>
            <a:rect l="l" t="t" r="r" b="b"/>
            <a:pathLst>
              <a:path w="1218565" h="6853555">
                <a:moveTo>
                  <a:pt x="0" y="0"/>
                </a:moveTo>
                <a:lnTo>
                  <a:pt x="1218352" y="685317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48612" y="3694896"/>
            <a:ext cx="4743450" cy="3163570"/>
          </a:xfrm>
          <a:custGeom>
            <a:avLst/>
            <a:gdLst/>
            <a:ahLst/>
            <a:cxnLst/>
            <a:rect l="l" t="t" r="r" b="b"/>
            <a:pathLst>
              <a:path w="4743450" h="3163570">
                <a:moveTo>
                  <a:pt x="4743387" y="0"/>
                </a:moveTo>
                <a:lnTo>
                  <a:pt x="0" y="316310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9900" cy="6858000"/>
          </a:xfrm>
          <a:custGeom>
            <a:avLst/>
            <a:gdLst/>
            <a:ahLst/>
            <a:cxnLst/>
            <a:rect l="l" t="t" r="r" b="b"/>
            <a:pathLst>
              <a:path w="3009900" h="6858000">
                <a:moveTo>
                  <a:pt x="3009899" y="0"/>
                </a:moveTo>
                <a:lnTo>
                  <a:pt x="2044399" y="0"/>
                </a:lnTo>
                <a:lnTo>
                  <a:pt x="0" y="6857996"/>
                </a:lnTo>
                <a:lnTo>
                  <a:pt x="3009899" y="6857996"/>
                </a:lnTo>
                <a:lnTo>
                  <a:pt x="3009899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2878" y="0"/>
            <a:ext cx="2589530" cy="6858000"/>
          </a:xfrm>
          <a:custGeom>
            <a:avLst/>
            <a:gdLst/>
            <a:ahLst/>
            <a:cxnLst/>
            <a:rect l="l" t="t" r="r" b="b"/>
            <a:pathLst>
              <a:path w="2589529" h="6858000">
                <a:moveTo>
                  <a:pt x="2589120" y="0"/>
                </a:moveTo>
                <a:lnTo>
                  <a:pt x="0" y="0"/>
                </a:lnTo>
                <a:lnTo>
                  <a:pt x="1208884" y="6857996"/>
                </a:lnTo>
                <a:lnTo>
                  <a:pt x="2589120" y="6857996"/>
                </a:lnTo>
                <a:lnTo>
                  <a:pt x="2589120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4450" y="3048000"/>
            <a:ext cx="3257550" cy="3810000"/>
          </a:xfrm>
          <a:custGeom>
            <a:avLst/>
            <a:gdLst/>
            <a:ahLst/>
            <a:cxn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930" y="0"/>
            <a:ext cx="2854325" cy="6858000"/>
          </a:xfrm>
          <a:custGeom>
            <a:avLst/>
            <a:gdLst/>
            <a:ahLst/>
            <a:cxnLst/>
            <a:rect l="l" t="t" r="r" b="b"/>
            <a:pathLst>
              <a:path w="2854325" h="6858000">
                <a:moveTo>
                  <a:pt x="2854069" y="0"/>
                </a:moveTo>
                <a:lnTo>
                  <a:pt x="0" y="0"/>
                </a:lnTo>
                <a:lnTo>
                  <a:pt x="2470020" y="6857996"/>
                </a:lnTo>
                <a:lnTo>
                  <a:pt x="2854069" y="6857996"/>
                </a:lnTo>
                <a:lnTo>
                  <a:pt x="2854069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6600" y="0"/>
            <a:ext cx="1295400" cy="6858000"/>
          </a:xfrm>
          <a:custGeom>
            <a:avLst/>
            <a:gdLst/>
            <a:ahLst/>
            <a:cxnLst/>
            <a:rect l="l" t="t" r="r" b="b"/>
            <a:pathLst>
              <a:path w="1295400" h="6858000">
                <a:moveTo>
                  <a:pt x="1295399" y="0"/>
                </a:moveTo>
                <a:lnTo>
                  <a:pt x="1022453" y="0"/>
                </a:lnTo>
                <a:lnTo>
                  <a:pt x="0" y="6857996"/>
                </a:lnTo>
                <a:lnTo>
                  <a:pt x="1295399" y="6857996"/>
                </a:lnTo>
                <a:lnTo>
                  <a:pt x="1295399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36247" y="0"/>
            <a:ext cx="1256030" cy="6858000"/>
          </a:xfrm>
          <a:custGeom>
            <a:avLst/>
            <a:gdLst/>
            <a:ahLst/>
            <a:cxnLst/>
            <a:rect l="l" t="t" r="r" b="b"/>
            <a:pathLst>
              <a:path w="1256029" h="6858000">
                <a:moveTo>
                  <a:pt x="1255752" y="0"/>
                </a:moveTo>
                <a:lnTo>
                  <a:pt x="0" y="0"/>
                </a:lnTo>
                <a:lnTo>
                  <a:pt x="1114527" y="6857996"/>
                </a:lnTo>
                <a:lnTo>
                  <a:pt x="1255752" y="6857996"/>
                </a:lnTo>
                <a:lnTo>
                  <a:pt x="1255752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725" y="3590925"/>
            <a:ext cx="1819275" cy="3267075"/>
          </a:xfrm>
          <a:custGeom>
            <a:avLst/>
            <a:gdLst/>
            <a:ahLst/>
            <a:cxn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58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53418" y="6473337"/>
            <a:ext cx="151129" cy="19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1"/>
          <p:cNvGrpSpPr/>
          <p:nvPr/>
        </p:nvGrpSpPr>
        <p:grpSpPr>
          <a:xfrm>
            <a:off x="876299" y="990600"/>
            <a:ext cx="1743075" cy="1333500"/>
            <a:chOff x="742950" y="1104900"/>
            <a:chExt cx="1743075" cy="1333500"/>
          </a:xfrm>
        </p:grpSpPr>
        <p:sp>
          <p:nvSpPr>
            <p:cNvPr id="29" name="Google Shape;29;p1"/>
            <p:cNvSpPr/>
            <p:nvPr/>
          </p:nvSpPr>
          <p:spPr>
            <a:xfrm>
              <a:off x="742950" y="1381125"/>
              <a:ext cx="1228725" cy="1057275"/>
            </a:xfrm>
            <a:custGeom>
              <a:rect b="b" l="l" r="r" t="t"/>
              <a:pathLst>
                <a:path extrusionOk="0" h="1057275" w="1228725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AE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1838325" y="1104900"/>
              <a:ext cx="647700" cy="561975"/>
            </a:xfrm>
            <a:custGeom>
              <a:rect b="b" l="l" r="r" t="t"/>
              <a:pathLst>
                <a:path extrusionOk="0" h="561975" w="647700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D936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" name="Google Shape;31;p1"/>
          <p:cNvSpPr/>
          <p:nvPr/>
        </p:nvSpPr>
        <p:spPr>
          <a:xfrm>
            <a:off x="3752850" y="1190625"/>
            <a:ext cx="1666875" cy="1438275"/>
          </a:xfrm>
          <a:custGeom>
            <a:rect b="b" l="l" r="r" t="t"/>
            <a:pathLst>
              <a:path extrusionOk="0" h="1438275" w="1666875">
                <a:moveTo>
                  <a:pt x="1307338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338" y="1438275"/>
                </a:lnTo>
                <a:lnTo>
                  <a:pt x="1666875" y="719074"/>
                </a:lnTo>
                <a:lnTo>
                  <a:pt x="1307338" y="0"/>
                </a:lnTo>
                <a:close/>
              </a:path>
            </a:pathLst>
          </a:custGeom>
          <a:solidFill>
            <a:srgbClr val="42D0A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3800475" y="5229225"/>
            <a:ext cx="723900" cy="619125"/>
          </a:xfrm>
          <a:custGeom>
            <a:rect b="b" l="l" r="r" t="t"/>
            <a:pathLst>
              <a:path extrusionOk="0" h="619125" w="723900">
                <a:moveTo>
                  <a:pt x="569087" y="0"/>
                </a:moveTo>
                <a:lnTo>
                  <a:pt x="154812" y="0"/>
                </a:lnTo>
                <a:lnTo>
                  <a:pt x="0" y="309625"/>
                </a:lnTo>
                <a:lnTo>
                  <a:pt x="154812" y="619125"/>
                </a:lnTo>
                <a:lnTo>
                  <a:pt x="569087" y="619125"/>
                </a:lnTo>
                <a:lnTo>
                  <a:pt x="723900" y="309625"/>
                </a:lnTo>
                <a:lnTo>
                  <a:pt x="569087" y="0"/>
                </a:lnTo>
                <a:close/>
              </a:path>
            </a:pathLst>
          </a:custGeom>
          <a:solidFill>
            <a:srgbClr val="42AF5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 txBox="1"/>
          <p:nvPr>
            <p:ph type="ctrTitle"/>
          </p:nvPr>
        </p:nvSpPr>
        <p:spPr>
          <a:xfrm>
            <a:off x="771524" y="483763"/>
            <a:ext cx="7629600" cy="10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3213735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>
                <a:solidFill>
                  <a:srgbClr val="0F0F0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Portfolio </a:t>
            </a:r>
            <a:br>
              <a:rPr b="1" i="0" lang="en-US">
                <a:solidFill>
                  <a:srgbClr val="0F0F0F"/>
                </a:solidFill>
                <a:latin typeface="Roboto"/>
                <a:ea typeface="Roboto"/>
                <a:cs typeface="Roboto"/>
                <a:sym typeface="Roboto"/>
              </a:rPr>
            </a:br>
            <a:endParaRPr/>
          </a:p>
        </p:txBody>
      </p:sp>
      <p:pic>
        <p:nvPicPr>
          <p:cNvPr id="34" name="Google Shape;3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275" y="6467475"/>
            <a:ext cx="2143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"/>
          <p:cNvSpPr txBox="1"/>
          <p:nvPr>
            <p:ph idx="7" type="sldNum"/>
          </p:nvPr>
        </p:nvSpPr>
        <p:spPr>
          <a:xfrm>
            <a:off x="11353418" y="6473337"/>
            <a:ext cx="1512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1"/>
          <p:cNvSpPr txBox="1"/>
          <p:nvPr/>
        </p:nvSpPr>
        <p:spPr>
          <a:xfrm>
            <a:off x="1676400" y="2695025"/>
            <a:ext cx="9488700" cy="26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NAME: Iniya Jazlynn J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REGISTER NO:      2428C0475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NMID:                    C473A70EC74AF0A90874C72286A72F04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DEPARTMENT:     BSc. Artificial Intelligence and Machine Learning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COLLEGE:             KPR College of Arts Science and Research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UNIVERSITY:        Bharathiar University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9832" y="4825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1800000" rIns="0" bIns="0" rtlCol="0" anchor="t" anchorCtr="0"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PhD Thesis Showcase Portfolio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758622" y="1163801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683649" y="501440"/>
            <a:ext cx="3909695" cy="132472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25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IN" sz="425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5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endParaRPr sz="4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66725" y="6410325"/>
            <a:ext cx="3705225" cy="295275"/>
            <a:chOff x="466725" y="6410325"/>
            <a:chExt cx="3705225" cy="29527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275" y="6467475"/>
              <a:ext cx="2143125" cy="20002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</p:grp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2</a:t>
            </a:fld>
            <a:endParaRPr spc="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44857" y="0"/>
            <a:ext cx="12481713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62825" y="447675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180975" y="0"/>
                </a:move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6464" y="229085"/>
                </a:lnTo>
                <a:lnTo>
                  <a:pt x="24708" y="272316"/>
                </a:lnTo>
                <a:lnTo>
                  <a:pt x="53006" y="308943"/>
                </a:lnTo>
                <a:lnTo>
                  <a:pt x="89633" y="337241"/>
                </a:lnTo>
                <a:lnTo>
                  <a:pt x="132864" y="355485"/>
                </a:lnTo>
                <a:lnTo>
                  <a:pt x="180975" y="361950"/>
                </a:lnTo>
                <a:lnTo>
                  <a:pt x="229085" y="355485"/>
                </a:lnTo>
                <a:lnTo>
                  <a:pt x="272316" y="337241"/>
                </a:lnTo>
                <a:lnTo>
                  <a:pt x="308943" y="308943"/>
                </a:lnTo>
                <a:lnTo>
                  <a:pt x="337241" y="272316"/>
                </a:lnTo>
                <a:lnTo>
                  <a:pt x="355485" y="229085"/>
                </a:lnTo>
                <a:lnTo>
                  <a:pt x="361950" y="180975"/>
                </a:lnTo>
                <a:lnTo>
                  <a:pt x="355485" y="132864"/>
                </a:lnTo>
                <a:lnTo>
                  <a:pt x="337241" y="89633"/>
                </a:lnTo>
                <a:lnTo>
                  <a:pt x="308943" y="53006"/>
                </a:lnTo>
                <a:lnTo>
                  <a:pt x="272316" y="24708"/>
                </a:lnTo>
                <a:lnTo>
                  <a:pt x="229085" y="6464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010900" y="5610225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>
                <a:moveTo>
                  <a:pt x="323850" y="0"/>
                </a:moveTo>
                <a:lnTo>
                  <a:pt x="276003" y="3511"/>
                </a:lnTo>
                <a:lnTo>
                  <a:pt x="230332" y="13711"/>
                </a:lnTo>
                <a:lnTo>
                  <a:pt x="187340" y="30099"/>
                </a:lnTo>
                <a:lnTo>
                  <a:pt x="147528" y="52175"/>
                </a:lnTo>
                <a:lnTo>
                  <a:pt x="111397" y="79436"/>
                </a:lnTo>
                <a:lnTo>
                  <a:pt x="79448" y="111381"/>
                </a:lnTo>
                <a:lnTo>
                  <a:pt x="52184" y="147511"/>
                </a:lnTo>
                <a:lnTo>
                  <a:pt x="30106" y="187324"/>
                </a:lnTo>
                <a:lnTo>
                  <a:pt x="13714" y="230319"/>
                </a:lnTo>
                <a:lnTo>
                  <a:pt x="3512" y="275994"/>
                </a:lnTo>
                <a:lnTo>
                  <a:pt x="0" y="323850"/>
                </a:lnTo>
                <a:lnTo>
                  <a:pt x="3512" y="371705"/>
                </a:lnTo>
                <a:lnTo>
                  <a:pt x="13714" y="417380"/>
                </a:lnTo>
                <a:lnTo>
                  <a:pt x="30106" y="460375"/>
                </a:lnTo>
                <a:lnTo>
                  <a:pt x="52184" y="500188"/>
                </a:lnTo>
                <a:lnTo>
                  <a:pt x="79448" y="536318"/>
                </a:lnTo>
                <a:lnTo>
                  <a:pt x="111397" y="568263"/>
                </a:lnTo>
                <a:lnTo>
                  <a:pt x="147528" y="595524"/>
                </a:lnTo>
                <a:lnTo>
                  <a:pt x="187340" y="617600"/>
                </a:lnTo>
                <a:lnTo>
                  <a:pt x="230332" y="633988"/>
                </a:lnTo>
                <a:lnTo>
                  <a:pt x="276003" y="644188"/>
                </a:lnTo>
                <a:lnTo>
                  <a:pt x="323850" y="647700"/>
                </a:lnTo>
                <a:lnTo>
                  <a:pt x="371696" y="644188"/>
                </a:lnTo>
                <a:lnTo>
                  <a:pt x="417367" y="633988"/>
                </a:lnTo>
                <a:lnTo>
                  <a:pt x="460359" y="617600"/>
                </a:lnTo>
                <a:lnTo>
                  <a:pt x="500171" y="595524"/>
                </a:lnTo>
                <a:lnTo>
                  <a:pt x="536302" y="568263"/>
                </a:lnTo>
                <a:lnTo>
                  <a:pt x="568251" y="536318"/>
                </a:lnTo>
                <a:lnTo>
                  <a:pt x="595515" y="500188"/>
                </a:lnTo>
                <a:lnTo>
                  <a:pt x="617593" y="460375"/>
                </a:lnTo>
                <a:lnTo>
                  <a:pt x="633985" y="417380"/>
                </a:lnTo>
                <a:lnTo>
                  <a:pt x="644187" y="371705"/>
                </a:lnTo>
                <a:lnTo>
                  <a:pt x="647700" y="323850"/>
                </a:lnTo>
                <a:lnTo>
                  <a:pt x="644187" y="275994"/>
                </a:lnTo>
                <a:lnTo>
                  <a:pt x="633985" y="230319"/>
                </a:lnTo>
                <a:lnTo>
                  <a:pt x="617593" y="187324"/>
                </a:lnTo>
                <a:lnTo>
                  <a:pt x="595515" y="147511"/>
                </a:lnTo>
                <a:lnTo>
                  <a:pt x="568251" y="111381"/>
                </a:lnTo>
                <a:lnTo>
                  <a:pt x="536302" y="79436"/>
                </a:lnTo>
                <a:lnTo>
                  <a:pt x="500171" y="52175"/>
                </a:lnTo>
                <a:lnTo>
                  <a:pt x="460359" y="30099"/>
                </a:lnTo>
                <a:lnTo>
                  <a:pt x="417367" y="13711"/>
                </a:lnTo>
                <a:lnTo>
                  <a:pt x="371696" y="3511"/>
                </a:lnTo>
                <a:lnTo>
                  <a:pt x="323850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7050" y="6134100"/>
            <a:ext cx="247650" cy="247650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47625" y="3819523"/>
            <a:ext cx="4124325" cy="3009900"/>
            <a:chOff x="47625" y="3819523"/>
            <a:chExt cx="4124325" cy="300990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" y="3819523"/>
              <a:ext cx="1733550" cy="3009898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739775" y="445388"/>
            <a:ext cx="235712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4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4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3</a:t>
            </a:fld>
            <a:endParaRPr spc="1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827FA3-A9D4-0FE5-45BE-664C8C920E82}"/>
              </a:ext>
            </a:extLst>
          </p:cNvPr>
          <p:cNvSpPr txBox="1"/>
          <p:nvPr/>
        </p:nvSpPr>
        <p:spPr>
          <a:xfrm>
            <a:off x="2509807" y="1041533"/>
            <a:ext cx="50292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design and Layout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and 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buFont typeface="+mj-lt"/>
              <a:buAutoNum type="arabicPeriod"/>
            </a:pPr>
            <a:r>
              <a:rPr lang="en-US" sz="2800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</a:p>
          <a:p>
            <a:pPr algn="l">
              <a:buFont typeface="+mj-lt"/>
              <a:buAutoNum type="arabicPeriod"/>
            </a:pP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991475" y="2933700"/>
            <a:ext cx="2762250" cy="3257550"/>
            <a:chOff x="7991475" y="2933700"/>
            <a:chExt cx="2762250" cy="325755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1475" y="2933700"/>
              <a:ext cx="2762250" cy="325755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696075" y="1106155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34072" y="575055"/>
            <a:ext cx="5636895" cy="5706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727960" algn="l"/>
              </a:tabLst>
            </a:pPr>
            <a:r>
              <a:rPr sz="3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36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</a:t>
            </a:r>
            <a:r>
              <a:rPr sz="36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3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36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3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3600" spc="-3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3600" spc="-3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36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3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3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</a:t>
            </a:r>
            <a:r>
              <a:rPr sz="3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4</a:t>
            </a:fld>
            <a:endParaRPr spc="1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6735B4-4006-292D-92FB-BD25A936476E}"/>
              </a:ext>
            </a:extLst>
          </p:cNvPr>
          <p:cNvSpPr txBox="1"/>
          <p:nvPr/>
        </p:nvSpPr>
        <p:spPr>
          <a:xfrm>
            <a:off x="731362" y="1690062"/>
            <a:ext cx="704103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In today’s academic world, traditional thesis documents alone are insufficient to showcase a researcher’s journey and contributions.</a:t>
            </a:r>
            <a:br>
              <a:rPr lang="en-US" sz="2000" dirty="0"/>
            </a:br>
            <a:r>
              <a:rPr lang="en-US" sz="2000" dirty="0"/>
              <a:t>Researchers often struggle to present: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Their </a:t>
            </a:r>
            <a:r>
              <a:rPr lang="en-US" sz="2000" b="1" dirty="0"/>
              <a:t>thesis work</a:t>
            </a:r>
            <a:r>
              <a:rPr lang="en-US" sz="2000" dirty="0"/>
              <a:t> in an interactive and professional way.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Publications and findings</a:t>
            </a:r>
            <a:r>
              <a:rPr lang="en-US" sz="2000" dirty="0"/>
              <a:t> in a structured format.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A clear overview of </a:t>
            </a:r>
            <a:r>
              <a:rPr lang="en-US" sz="2000" b="1" dirty="0"/>
              <a:t>research methodology and results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There is a need for a </a:t>
            </a:r>
            <a:r>
              <a:rPr lang="en-US" sz="2000" b="1" dirty="0"/>
              <a:t>digital showcase portfolio</a:t>
            </a:r>
            <a:r>
              <a:rPr lang="en-US" sz="2000" dirty="0"/>
              <a:t> that highlights: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Thesis content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Research contributions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Achievements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Publications</a:t>
            </a:r>
            <a:br>
              <a:rPr lang="en-US" sz="2000" dirty="0"/>
            </a:br>
            <a:r>
              <a:rPr lang="en-US" sz="2000" dirty="0"/>
              <a:t>all in a </a:t>
            </a:r>
            <a:r>
              <a:rPr lang="en-US" sz="2000" b="1" dirty="0"/>
              <a:t>modern, accessible format</a:t>
            </a:r>
            <a:r>
              <a:rPr lang="en-US" sz="2000" dirty="0"/>
              <a:t>.</a:t>
            </a:r>
          </a:p>
          <a:p>
            <a:endParaRPr lang="en-IN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2"/>
          <p:cNvGrpSpPr/>
          <p:nvPr/>
        </p:nvGrpSpPr>
        <p:grpSpPr>
          <a:xfrm>
            <a:off x="8658225" y="2647950"/>
            <a:ext cx="3533775" cy="3810000"/>
            <a:chOff x="8658225" y="2647950"/>
            <a:chExt cx="3533775" cy="3810000"/>
          </a:xfrm>
        </p:grpSpPr>
        <p:sp>
          <p:nvSpPr>
            <p:cNvPr id="39" name="Google Shape;39;p2"/>
            <p:cNvSpPr/>
            <p:nvPr/>
          </p:nvSpPr>
          <p:spPr>
            <a:xfrm>
              <a:off x="9353550" y="5362575"/>
              <a:ext cx="457200" cy="457200"/>
            </a:xfrm>
            <a:custGeom>
              <a:rect b="b" l="l" r="r" t="t"/>
              <a:pathLst>
                <a:path extrusionOk="0" h="457200" w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9353550" y="5895975"/>
              <a:ext cx="180975" cy="180975"/>
            </a:xfrm>
            <a:custGeom>
              <a:rect b="b" l="l" r="r" t="t"/>
              <a:pathLst>
                <a:path extrusionOk="0" h="180975" w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1" name="Google Shape;41;p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658225" y="2647950"/>
              <a:ext cx="3533775" cy="3810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" name="Google Shape;42;p2"/>
          <p:cNvSpPr/>
          <p:nvPr/>
        </p:nvSpPr>
        <p:spPr>
          <a:xfrm>
            <a:off x="6629400" y="1358937"/>
            <a:ext cx="314325" cy="323850"/>
          </a:xfrm>
          <a:custGeom>
            <a:rect b="b" l="l" r="r" t="t"/>
            <a:pathLst>
              <a:path extrusionOk="0" h="323850" w="314325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>
            <p:ph type="title"/>
          </p:nvPr>
        </p:nvSpPr>
        <p:spPr>
          <a:xfrm>
            <a:off x="739775" y="829627"/>
            <a:ext cx="52635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50"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lang="en-US" sz="4250"/>
              <a:t>	OVERVIEW</a:t>
            </a:r>
            <a:endParaRPr sz="4250"/>
          </a:p>
        </p:txBody>
      </p:sp>
      <p:pic>
        <p:nvPicPr>
          <p:cNvPr id="44" name="Google Shape;4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275" y="6467475"/>
            <a:ext cx="2143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 txBox="1"/>
          <p:nvPr>
            <p:ph idx="7" type="sldNum"/>
          </p:nvPr>
        </p:nvSpPr>
        <p:spPr>
          <a:xfrm>
            <a:off x="11353418" y="6473337"/>
            <a:ext cx="1512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2"/>
          <p:cNvSpPr txBox="1"/>
          <p:nvPr/>
        </p:nvSpPr>
        <p:spPr>
          <a:xfrm>
            <a:off x="676275" y="2248706"/>
            <a:ext cx="7848600" cy="34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PhD Thesis Showcase Portfolio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personal web-based platform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designed to: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 my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thesis details, methodology, and results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Showcase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 highlights, publications, and academic contributions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Include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timeline and contact details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a professional format.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 a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live portfolio website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accessible via GitHub Pages.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Built using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HTML, CSS, and JavaScript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the portfolio ensures a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clean, modern, and responsive design.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23900" y="495475"/>
            <a:ext cx="5014595" cy="10015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32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3200" spc="-235" dirty="0"/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sz="3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3200" spc="-35" dirty="0"/>
              <a:t> </a:t>
            </a:r>
            <a:r>
              <a:rPr sz="3200" spc="-10" dirty="0"/>
              <a:t>T</a:t>
            </a:r>
            <a:r>
              <a:rPr sz="3200" spc="-15" dirty="0"/>
              <a:t>H</a:t>
            </a:r>
            <a:r>
              <a:rPr sz="3200" spc="15" dirty="0"/>
              <a:t>E</a:t>
            </a:r>
            <a:r>
              <a:rPr sz="3200" spc="-35" dirty="0"/>
              <a:t> </a:t>
            </a:r>
            <a:r>
              <a:rPr sz="3200" spc="-20" dirty="0"/>
              <a:t>E</a:t>
            </a:r>
            <a:r>
              <a:rPr sz="3200" spc="30" dirty="0"/>
              <a:t>N</a:t>
            </a:r>
            <a:r>
              <a:rPr sz="3200" spc="15" dirty="0"/>
              <a:t>D</a:t>
            </a:r>
            <a:r>
              <a:rPr sz="3200" spc="-45" dirty="0"/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3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3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3200" spc="5" dirty="0"/>
              <a:t>?</a:t>
            </a:r>
            <a:endParaRPr sz="320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" y="6172200"/>
            <a:ext cx="2181225" cy="48577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6</a:t>
            </a:fld>
            <a:endParaRPr spc="1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9C5931-27B6-C14A-F741-02BF2AC7B13E}"/>
              </a:ext>
            </a:extLst>
          </p:cNvPr>
          <p:cNvSpPr txBox="1"/>
          <p:nvPr/>
        </p:nvSpPr>
        <p:spPr>
          <a:xfrm>
            <a:off x="730454" y="1572458"/>
            <a:ext cx="818494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Students &amp; Research Scholars:</a:t>
            </a:r>
          </a:p>
          <a:p>
            <a:r>
              <a:rPr lang="en-US" b="1" dirty="0"/>
              <a:t>		</a:t>
            </a:r>
            <a:r>
              <a:rPr lang="en-US" dirty="0"/>
              <a:t> To present their academic journey.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Supervisors &amp; Examiners:</a:t>
            </a:r>
          </a:p>
          <a:p>
            <a:r>
              <a:rPr lang="en-US" b="1" dirty="0"/>
              <a:t>		</a:t>
            </a:r>
            <a:r>
              <a:rPr lang="en-US" dirty="0"/>
              <a:t>For thesis evaluation and easy access.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Recruiters &amp; Employers:</a:t>
            </a:r>
          </a:p>
          <a:p>
            <a:r>
              <a:rPr lang="en-US" b="1" dirty="0"/>
              <a:t>		</a:t>
            </a:r>
            <a:r>
              <a:rPr lang="en-US" dirty="0"/>
              <a:t> To evaluate academic and technical expertise.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Peers &amp; Mentors:</a:t>
            </a:r>
          </a:p>
          <a:p>
            <a:r>
              <a:rPr lang="en-US" b="1" dirty="0"/>
              <a:t>		</a:t>
            </a:r>
            <a:r>
              <a:rPr lang="en-US" dirty="0"/>
              <a:t> To review and give feedback on research 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General Audience:</a:t>
            </a:r>
          </a:p>
          <a:p>
            <a:r>
              <a:rPr lang="en-US" b="1" dirty="0"/>
              <a:t>		</a:t>
            </a:r>
            <a:r>
              <a:rPr lang="en-US" dirty="0"/>
              <a:t> Anyone interested in exploring research contributions.</a:t>
            </a:r>
          </a:p>
          <a:p>
            <a:pPr>
              <a:buFont typeface="+mj-lt"/>
              <a:buAutoNum type="arabicPeriod"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76375"/>
            <a:ext cx="2695574" cy="324802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58165" y="857885"/>
            <a:ext cx="976312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3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en-IN" sz="3600" spc="10" dirty="0"/>
              <a:t> AND TECHNIQUES</a:t>
            </a:r>
            <a:endParaRPr sz="3600" dirty="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7</a:t>
            </a:fld>
            <a:endParaRPr spc="10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A2CAB8B-47A9-C767-9F72-7DC5C29F5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5574" y="1720840"/>
            <a:ext cx="789622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IN" b="1" dirty="0"/>
              <a:t>Frontend:</a:t>
            </a:r>
            <a:endParaRPr lang="en-IN" dirty="0"/>
          </a:p>
          <a:p>
            <a:r>
              <a:rPr lang="en-IN" dirty="0"/>
              <a:t>	HTML5 → For structure and content</a:t>
            </a:r>
          </a:p>
          <a:p>
            <a:r>
              <a:rPr lang="en-IN" dirty="0"/>
              <a:t>	CSS3 → For styling and responsiveness</a:t>
            </a:r>
          </a:p>
          <a:p>
            <a:r>
              <a:rPr lang="en-IN" dirty="0"/>
              <a:t>	JavaScript → For interactivity</a:t>
            </a:r>
          </a:p>
          <a:p>
            <a:r>
              <a:rPr lang="en-IN" b="1" dirty="0"/>
              <a:t>2)   Development Environment:</a:t>
            </a:r>
            <a:endParaRPr lang="en-IN" dirty="0"/>
          </a:p>
          <a:p>
            <a:r>
              <a:rPr lang="en-IN" dirty="0"/>
              <a:t>	Visual Studio Code</a:t>
            </a:r>
          </a:p>
          <a:p>
            <a:endParaRPr lang="en-IN" dirty="0"/>
          </a:p>
          <a:p>
            <a:r>
              <a:rPr lang="en-IN" b="1" dirty="0"/>
              <a:t>3)   Version Control &amp; Deployment:</a:t>
            </a:r>
            <a:endParaRPr lang="en-IN" dirty="0"/>
          </a:p>
          <a:p>
            <a:r>
              <a:rPr lang="en-IN" dirty="0"/>
              <a:t>	Git &amp; GitHub → Code management and live hosting (GitHub Pages)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8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9775" y="291147"/>
            <a:ext cx="879475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4000" b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</a:t>
            </a:r>
            <a:r>
              <a:rPr lang="en-IN" sz="4000" b="1" spc="15" dirty="0">
                <a:latin typeface="Trebuchet MS"/>
                <a:cs typeface="Trebuchet MS"/>
              </a:rPr>
              <a:t> DESIGN AND LAYOUT</a:t>
            </a:r>
            <a:endParaRPr sz="4000" dirty="0">
              <a:latin typeface="Trebuchet MS"/>
              <a:cs typeface="Trebuchet MS"/>
            </a:endParaRPr>
          </a:p>
        </p:txBody>
      </p:sp>
      <p:sp>
        <p:nvSpPr>
          <p:cNvPr id="14" name="object 3"/>
          <p:cNvSpPr/>
          <p:nvPr/>
        </p:nvSpPr>
        <p:spPr>
          <a:xfrm>
            <a:off x="10058400" y="5251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FD0205-5C2F-BFEE-3F38-E7C606D9583A}"/>
              </a:ext>
            </a:extLst>
          </p:cNvPr>
          <p:cNvSpPr txBox="1"/>
          <p:nvPr/>
        </p:nvSpPr>
        <p:spPr>
          <a:xfrm>
            <a:off x="739775" y="1154663"/>
            <a:ext cx="8058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2CA9A787-8C6F-A806-8F28-8A1E26C85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1219" y="1186805"/>
            <a:ext cx="724025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Thesis Title, Name, Affiliation.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Navigation Bar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Quick access to sections.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About Section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Thesis background and objectives.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 Highlights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Chapters &amp; key contributions.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Publications Section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Journals, Conferences, DOI links.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Timeline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PhD journey year by year.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Contact Section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Email, LinkedIn, Google Scholar, Thesis PDF.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Footer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Copyright and acknowledgment.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6195E-16D6-79D8-7A9F-F8EB1FE9E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10681335" cy="75819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lang="en-IN" dirty="0"/>
              <a:t> AND FUNCTIONALITY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11BD9E-DC2E-A254-B8ED-A41B13B73072}"/>
              </a:ext>
            </a:extLst>
          </p:cNvPr>
          <p:cNvSpPr txBox="1">
            <a:spLocks/>
          </p:cNvSpPr>
          <p:nvPr/>
        </p:nvSpPr>
        <p:spPr>
          <a:xfrm>
            <a:off x="1371600" y="910590"/>
            <a:ext cx="7162800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kern="0">
                <a:solidFill>
                  <a:sysClr val="windowText" lastClr="000000"/>
                </a:solidFill>
              </a:rPr>
              <a:t>Responsive Design </a:t>
            </a:r>
            <a:r>
              <a:rPr lang="en-IN" sz="2000" kern="0">
                <a:solidFill>
                  <a:sysClr val="windowText" lastClr="000000"/>
                </a:solidFill>
              </a:rPr>
              <a:t>→ Works on desktop, tablet, mobile.</a:t>
            </a:r>
          </a:p>
          <a:p>
            <a:endParaRPr lang="en-IN" sz="2000" kern="0">
              <a:solidFill>
                <a:sysClr val="windowText" lastClr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kern="0">
                <a:solidFill>
                  <a:sysClr val="windowText" lastClr="000000"/>
                </a:solidFill>
              </a:rPr>
              <a:t>Interactive Navigation </a:t>
            </a:r>
            <a:r>
              <a:rPr lang="en-IN" sz="2000" kern="0">
                <a:solidFill>
                  <a:sysClr val="windowText" lastClr="000000"/>
                </a:solidFill>
              </a:rPr>
              <a:t>→ Smooth scrolling and fixed navbar.</a:t>
            </a:r>
          </a:p>
          <a:p>
            <a:endParaRPr lang="en-IN" sz="2000" kern="0">
              <a:solidFill>
                <a:sysClr val="windowText" lastClr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kern="0">
                <a:solidFill>
                  <a:sysClr val="windowText" lastClr="000000"/>
                </a:solidFill>
              </a:rPr>
              <a:t>Research Highlights </a:t>
            </a:r>
            <a:r>
              <a:rPr lang="en-IN" sz="2000" kern="0">
                <a:solidFill>
                  <a:sysClr val="windowText" lastClr="000000"/>
                </a:solidFill>
              </a:rPr>
              <a:t>→ Cards for Introduction, Methodology, Results.</a:t>
            </a:r>
          </a:p>
          <a:p>
            <a:endParaRPr lang="en-IN" sz="2000" kern="0">
              <a:solidFill>
                <a:sysClr val="windowText" lastClr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kern="0">
                <a:solidFill>
                  <a:sysClr val="windowText" lastClr="000000"/>
                </a:solidFill>
              </a:rPr>
              <a:t>Publications Showcase </a:t>
            </a:r>
            <a:r>
              <a:rPr lang="en-IN" sz="2000" kern="0">
                <a:solidFill>
                  <a:sysClr val="windowText" lastClr="000000"/>
                </a:solidFill>
              </a:rPr>
              <a:t>→ With links to papers/PDFs.</a:t>
            </a:r>
          </a:p>
          <a:p>
            <a:endParaRPr lang="en-IN" sz="2000" kern="0">
              <a:solidFill>
                <a:sysClr val="windowText" lastClr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kern="0">
                <a:solidFill>
                  <a:sysClr val="windowText" lastClr="000000"/>
                </a:solidFill>
              </a:rPr>
              <a:t>Timeline</a:t>
            </a:r>
            <a:r>
              <a:rPr lang="en-IN" sz="2000" kern="0">
                <a:solidFill>
                  <a:sysClr val="windowText" lastClr="000000"/>
                </a:solidFill>
              </a:rPr>
              <a:t> → Visual representation of research journey.</a:t>
            </a:r>
          </a:p>
          <a:p>
            <a:endParaRPr lang="en-IN" sz="2000" kern="0">
              <a:solidFill>
                <a:sysClr val="windowText" lastClr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kern="0">
                <a:solidFill>
                  <a:sysClr val="windowText" lastClr="000000"/>
                </a:solidFill>
              </a:rPr>
              <a:t>Contact Form </a:t>
            </a:r>
            <a:r>
              <a:rPr lang="en-IN" sz="2000" kern="0">
                <a:solidFill>
                  <a:sysClr val="windowText" lastClr="000000"/>
                </a:solidFill>
              </a:rPr>
              <a:t>→ For communication &amp; collaboration.</a:t>
            </a:r>
          </a:p>
          <a:p>
            <a:endParaRPr lang="en-IN" sz="2000" kern="0">
              <a:solidFill>
                <a:sysClr val="windowText" lastClr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kern="0">
                <a:solidFill>
                  <a:sysClr val="windowText" lastClr="000000"/>
                </a:solidFill>
              </a:rPr>
              <a:t>Modern UI Elements </a:t>
            </a:r>
            <a:r>
              <a:rPr lang="en-IN" sz="2000" kern="0">
                <a:solidFill>
                  <a:sysClr val="windowText" lastClr="000000"/>
                </a:solidFill>
              </a:rPr>
              <a:t>→ Hover effects, clean typography, professional layout.</a:t>
            </a:r>
          </a:p>
          <a:p>
            <a:endParaRPr lang="en-IN" sz="2000" kern="0">
              <a:solidFill>
                <a:sysClr val="windowText" lastClr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kern="0">
                <a:solidFill>
                  <a:sysClr val="windowText" lastClr="000000"/>
                </a:solidFill>
              </a:rPr>
              <a:t>Easy Deployment </a:t>
            </a:r>
            <a:r>
              <a:rPr lang="en-IN" sz="2000" kern="0">
                <a:solidFill>
                  <a:sysClr val="windowText" lastClr="000000"/>
                </a:solidFill>
              </a:rPr>
              <a:t>→ Hosted live via GitHub Pages.</a:t>
            </a:r>
          </a:p>
          <a:p>
            <a:endParaRPr lang="en-US" sz="20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0660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3381373"/>
            <a:ext cx="2466975" cy="341947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09600" y="156640"/>
            <a:ext cx="8480425" cy="67069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25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IN" sz="4250" spc="15" dirty="0"/>
              <a:t> AND SCREENSHOTS</a:t>
            </a:r>
            <a:endParaRPr sz="4250" dirty="0"/>
          </a:p>
        </p:txBody>
      </p:sp>
      <p:sp>
        <p:nvSpPr>
          <p:cNvPr id="8" name="object 8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10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9CEB2-36E1-0550-426B-2FAF97882044}"/>
              </a:ext>
            </a:extLst>
          </p:cNvPr>
          <p:cNvSpPr txBox="1"/>
          <p:nvPr/>
        </p:nvSpPr>
        <p:spPr>
          <a:xfrm>
            <a:off x="2743200" y="2354703"/>
            <a:ext cx="85340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0EE79AD2-BED4-EBFC-06F7-94E9C8D15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899" y="813379"/>
            <a:ext cx="492000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fully functional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PhD Thesis Showcase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Portfolio website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was developed.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Sections include About, Research Highlights,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Publications, Timeline, Contact.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Responsive and professional layout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features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enhance usability.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F7155F-BF57-C012-125A-9663697B1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118" y="894132"/>
            <a:ext cx="6416400" cy="58072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81675" y="813723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74997" y="599583"/>
            <a:ext cx="4578668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11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D6EB7C-C91E-7453-9999-430E6BED119D}"/>
              </a:ext>
            </a:extLst>
          </p:cNvPr>
          <p:cNvSpPr txBox="1"/>
          <p:nvPr/>
        </p:nvSpPr>
        <p:spPr>
          <a:xfrm>
            <a:off x="774997" y="1566952"/>
            <a:ext cx="73464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i="1" dirty="0"/>
              <a:t>PhD Thesis Showcase Portfolio</a:t>
            </a:r>
            <a:r>
              <a:rPr lang="en-US" dirty="0"/>
              <a:t> provides an </a:t>
            </a:r>
            <a:r>
              <a:rPr lang="en-US" b="1" dirty="0"/>
              <a:t>innovative, digital, and professional platform</a:t>
            </a:r>
            <a:r>
              <a:rPr lang="en-US" dirty="0"/>
              <a:t> to present academic work.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Goes beyond traditional thesis submission.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Highlights </a:t>
            </a:r>
            <a:r>
              <a:rPr lang="en-US" b="1" dirty="0"/>
              <a:t>research contributions, publications, and academic journey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Helps researchers in </a:t>
            </a:r>
            <a:r>
              <a:rPr lang="en-US" b="1" dirty="0"/>
              <a:t>personal branding, academic recognition, and professional opportunities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Easily shareable and accessible worldwide.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010E0-0A25-7DE9-47F8-4B02A967E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793371"/>
            <a:ext cx="5800851" cy="738664"/>
          </a:xfrm>
        </p:spPr>
        <p:txBody>
          <a:bodyPr/>
          <a:lstStyle/>
          <a:p>
            <a:r>
              <a:rPr lang="en-IN" sz="4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7277F5-7B98-6FF2-60B8-4BA166729E9C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828800" y="1981200"/>
            <a:ext cx="8534400" cy="276999"/>
          </a:xfrm>
        </p:spPr>
        <p:txBody>
          <a:bodyPr/>
          <a:lstStyle/>
          <a:p>
            <a:r>
              <a:rPr lang="en-IN" dirty="0"/>
              <a:t>https://iniya-jazlynn.github.io/portfolio/</a:t>
            </a:r>
          </a:p>
        </p:txBody>
      </p:sp>
    </p:spTree>
    <p:extLst>
      <p:ext uri="{BB962C8B-B14F-4D97-AF65-F5344CB8AC3E}">
        <p14:creationId xmlns:p14="http://schemas.microsoft.com/office/powerpoint/2010/main" val="3191271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